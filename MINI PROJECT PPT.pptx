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5" name="Oval 2"/>
          <p:cNvSpPr/>
          <p:nvPr/>
        </p:nvSpPr>
        <p:spPr>
          <a:xfrm>
            <a:off x="9875518" y="685799"/>
            <a:ext cx="914403" cy="914402"/>
          </a:xfrm>
          <a:prstGeom prst="ellipse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6" name="Oval 3"/>
          <p:cNvSpPr/>
          <p:nvPr/>
        </p:nvSpPr>
        <p:spPr>
          <a:xfrm>
            <a:off x="10652759" y="1417319"/>
            <a:ext cx="502923" cy="502923"/>
          </a:xfrm>
          <a:prstGeom prst="ellipse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7" name="Oval 4"/>
          <p:cNvSpPr/>
          <p:nvPr/>
        </p:nvSpPr>
        <p:spPr>
          <a:xfrm>
            <a:off x="9235440" y="1600200"/>
            <a:ext cx="384051" cy="384048"/>
          </a:xfrm>
          <a:prstGeom prst="ellipse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98" name="TextBox 5"/>
          <p:cNvSpPr txBox="1"/>
          <p:nvPr/>
        </p:nvSpPr>
        <p:spPr>
          <a:xfrm>
            <a:off x="822959" y="832104"/>
            <a:ext cx="7863755" cy="1920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4000">
                <a:solidFill>
                  <a:srgbClr val="18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RFID + WEIGHT SENSOR</a:t>
            </a:r>
            <a:br/>
            <a:r>
              <a:t>BASED SMART BILLING TROLLEY</a:t>
            </a:r>
          </a:p>
        </p:txBody>
      </p:sp>
      <p:sp>
        <p:nvSpPr>
          <p:cNvPr id="99" name="TextBox 7"/>
          <p:cNvSpPr txBox="1"/>
          <p:nvPr/>
        </p:nvSpPr>
        <p:spPr>
          <a:xfrm>
            <a:off x="907302" y="3673112"/>
            <a:ext cx="6284081" cy="287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700"/>
              </a:spcBef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TEAM:</a:t>
            </a:r>
            <a:br/>
            <a:r>
              <a:t>Y. THULASI NAGA JYOTHI— 24FE1A04U6</a:t>
            </a:r>
          </a:p>
          <a:p>
            <a:pPr>
              <a:spcBef>
                <a:spcPts val="700"/>
              </a:spcBef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P. MEGHANATH SAI KRISHNA — 25FE5A0441</a:t>
            </a:r>
          </a:p>
          <a:p>
            <a:pPr>
              <a:spcBef>
                <a:spcPts val="700"/>
              </a:spcBef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V. JOHN BUNYAN — 24FE1A04S1</a:t>
            </a:r>
          </a:p>
          <a:p>
            <a:pPr>
              <a:spcBef>
                <a:spcPts val="700"/>
              </a:spcBef>
              <a:defRPr sz="1500">
                <a:latin typeface="Aptos"/>
                <a:ea typeface="Aptos"/>
                <a:cs typeface="Aptos"/>
                <a:sym typeface="Aptos"/>
              </a:defRPr>
            </a:pPr>
            <a:r>
              <a:t>L. ROSITHA — 25FE5A0443</a:t>
            </a:r>
            <a:br/>
            <a:br/>
            <a:r>
              <a:t>GUIDE: DR. SK. SHEHANAZ</a:t>
            </a:r>
            <a:br/>
            <a:br/>
            <a:r>
              <a:t>ELECTRONICS &amp; COMMUNICATION ENGINEERING</a:t>
            </a:r>
            <a:br/>
            <a:br/>
            <a:r>
              <a:t>VIGNAN’S LARA INSTITUTE OF TECHNOLOGY &amp; SCIENCE</a:t>
            </a:r>
          </a:p>
        </p:txBody>
      </p:sp>
      <p:sp>
        <p:nvSpPr>
          <p:cNvPr id="100" name="TextBox 8"/>
          <p:cNvSpPr txBox="1"/>
          <p:nvPr/>
        </p:nvSpPr>
        <p:spPr>
          <a:xfrm>
            <a:off x="8764090" y="6473953"/>
            <a:ext cx="2757348" cy="218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800">
                <a:solidFill>
                  <a:srgbClr val="6974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RFID + Weight Sensor Based Smart Billing Trolley    |    1/8</a:t>
            </a:r>
          </a:p>
        </p:txBody>
      </p:sp>
      <p:sp>
        <p:nvSpPr>
          <p:cNvPr id="101" name="AUTOMATED PRODUCT IDENTIFICATION, VERIFICATION &amp; REAL-TIME BILLING"/>
          <p:cNvSpPr txBox="1"/>
          <p:nvPr/>
        </p:nvSpPr>
        <p:spPr>
          <a:xfrm>
            <a:off x="890334" y="2981812"/>
            <a:ext cx="7259833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solidFill>
                  <a:srgbClr val="009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r>
              <a:t>AUTOMATED PRODUCT IDENTIFICATION, VERIFICATION &amp; REAL-TIME BILLING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4" name="TextBox 2"/>
          <p:cNvSpPr txBox="1"/>
          <p:nvPr/>
        </p:nvSpPr>
        <p:spPr>
          <a:xfrm>
            <a:off x="640078" y="384048"/>
            <a:ext cx="4563179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8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Problem &amp; Existing System</a:t>
            </a:r>
          </a:p>
        </p:txBody>
      </p:sp>
      <p:sp>
        <p:nvSpPr>
          <p:cNvPr id="105" name="Rounded Rectangle 3"/>
          <p:cNvSpPr/>
          <p:nvPr/>
        </p:nvSpPr>
        <p:spPr>
          <a:xfrm>
            <a:off x="685800" y="1417319"/>
            <a:ext cx="5303521" cy="43891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6" name="Rectangle 4"/>
          <p:cNvSpPr/>
          <p:nvPr/>
        </p:nvSpPr>
        <p:spPr>
          <a:xfrm>
            <a:off x="685798" y="1417319"/>
            <a:ext cx="82299" cy="4389123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7" name="TextBox 5"/>
          <p:cNvSpPr txBox="1"/>
          <p:nvPr/>
        </p:nvSpPr>
        <p:spPr>
          <a:xfrm>
            <a:off x="960119" y="1581911"/>
            <a:ext cx="1222011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200">
                <a:solidFill>
                  <a:srgbClr val="182A4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108" name="TextBox 6"/>
          <p:cNvSpPr txBox="1"/>
          <p:nvPr/>
        </p:nvSpPr>
        <p:spPr>
          <a:xfrm>
            <a:off x="960119" y="2039111"/>
            <a:ext cx="4800602" cy="2529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0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Long queues at supermarket billing counters</a:t>
            </a:r>
            <a:br/>
            <a:r>
              <a:t>• Manual barcode scanning takes time</a:t>
            </a:r>
            <a:br/>
            <a:r>
              <a:t>• Repeated scanning increases checkout effort</a:t>
            </a:r>
            <a:br/>
            <a:r>
              <a:t>• Manual entry can cause billing errors</a:t>
            </a:r>
            <a:br/>
            <a:r>
              <a:t>• Customers have limited visibility of their running bill</a:t>
            </a:r>
          </a:p>
        </p:txBody>
      </p:sp>
      <p:sp>
        <p:nvSpPr>
          <p:cNvPr id="109" name="Rounded Rectangle 7"/>
          <p:cNvSpPr/>
          <p:nvPr/>
        </p:nvSpPr>
        <p:spPr>
          <a:xfrm>
            <a:off x="6217920" y="1417319"/>
            <a:ext cx="5303521" cy="43891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0" name="Rectangle 8"/>
          <p:cNvSpPr/>
          <p:nvPr/>
        </p:nvSpPr>
        <p:spPr>
          <a:xfrm>
            <a:off x="6217920" y="1417319"/>
            <a:ext cx="82298" cy="4389123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1" name="TextBox 9"/>
          <p:cNvSpPr txBox="1"/>
          <p:nvPr/>
        </p:nvSpPr>
        <p:spPr>
          <a:xfrm>
            <a:off x="6492238" y="1581911"/>
            <a:ext cx="4746436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200">
                <a:solidFill>
                  <a:srgbClr val="182A4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Existing System — Barcode Billing</a:t>
            </a:r>
          </a:p>
        </p:txBody>
      </p:sp>
      <p:sp>
        <p:nvSpPr>
          <p:cNvPr id="112" name="TextBox 10"/>
          <p:cNvSpPr txBox="1"/>
          <p:nvPr/>
        </p:nvSpPr>
        <p:spPr>
          <a:xfrm>
            <a:off x="6492239" y="2039111"/>
            <a:ext cx="4800602" cy="283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0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Customer selects products → Counter → Barcode scanning → Bill generation → Payment</a:t>
            </a:r>
            <a:br/>
            <a:br/>
            <a:r>
              <a:t>Limitations:</a:t>
            </a:r>
            <a:br/>
            <a:r>
              <a:t>• Time-consuming</a:t>
            </a:r>
            <a:br/>
            <a:r>
              <a:t>• Requires counter-side scanning</a:t>
            </a:r>
            <a:br/>
            <a:r>
              <a:t>• High manual intervention</a:t>
            </a:r>
            <a:br/>
            <a:r>
              <a:t>• Queue congestion during peak hours</a:t>
            </a:r>
          </a:p>
        </p:txBody>
      </p:sp>
      <p:sp>
        <p:nvSpPr>
          <p:cNvPr id="113" name="TextBox 11"/>
          <p:cNvSpPr txBox="1"/>
          <p:nvPr/>
        </p:nvSpPr>
        <p:spPr>
          <a:xfrm>
            <a:off x="8764090" y="6473953"/>
            <a:ext cx="2757348" cy="218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800">
                <a:solidFill>
                  <a:srgbClr val="6974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RFID + Weight Sensor Based Smart Billing Trolley    |    2/8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16" name="TextBox 2"/>
          <p:cNvSpPr txBox="1"/>
          <p:nvPr/>
        </p:nvSpPr>
        <p:spPr>
          <a:xfrm>
            <a:off x="640078" y="384048"/>
            <a:ext cx="3000707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8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Proposed System</a:t>
            </a:r>
          </a:p>
        </p:txBody>
      </p:sp>
      <p:sp>
        <p:nvSpPr>
          <p:cNvPr id="117" name="TextBox 3"/>
          <p:cNvSpPr txBox="1"/>
          <p:nvPr/>
        </p:nvSpPr>
        <p:spPr>
          <a:xfrm>
            <a:off x="777238" y="1325880"/>
            <a:ext cx="10607044" cy="289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300"/>
              </a:spcBef>
              <a:defRPr sz="22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RFID tags provide unique identification for products.</a:t>
            </a:r>
          </a:p>
          <a:p>
            <a:pPr>
              <a:spcBef>
                <a:spcPts val="1300"/>
              </a:spcBef>
              <a:defRPr sz="22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An RFID reader detects products placed in the trolley.</a:t>
            </a:r>
          </a:p>
          <a:p>
            <a:pPr>
              <a:spcBef>
                <a:spcPts val="1300"/>
              </a:spcBef>
              <a:defRPr sz="22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A weight sensor measures the load inside the trolley.</a:t>
            </a:r>
          </a:p>
          <a:p>
            <a:pPr>
              <a:spcBef>
                <a:spcPts val="1300"/>
              </a:spcBef>
              <a:defRPr sz="22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The microcontroller processes product, price and weight information.</a:t>
            </a:r>
          </a:p>
          <a:p>
            <a:pPr>
              <a:spcBef>
                <a:spcPts val="1300"/>
              </a:spcBef>
              <a:defRPr sz="22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The running bill is calculated and displayed in real time.</a:t>
            </a:r>
          </a:p>
          <a:p>
            <a:pPr>
              <a:spcBef>
                <a:spcPts val="1300"/>
              </a:spcBef>
              <a:defRPr sz="22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Weight verification can help detect missing, extra or mismatched items.</a:t>
            </a:r>
          </a:p>
        </p:txBody>
      </p:sp>
      <p:grpSp>
        <p:nvGrpSpPr>
          <p:cNvPr id="120" name="Rounded Rectangle 4"/>
          <p:cNvGrpSpPr/>
          <p:nvPr/>
        </p:nvGrpSpPr>
        <p:grpSpPr>
          <a:xfrm>
            <a:off x="822960" y="5074920"/>
            <a:ext cx="1600201" cy="731523"/>
            <a:chOff x="0" y="0"/>
            <a:chExt cx="1600200" cy="731521"/>
          </a:xfrm>
        </p:grpSpPr>
        <p:sp>
          <p:nvSpPr>
            <p:cNvPr id="118" name="Rounded Rectangle"/>
            <p:cNvSpPr/>
            <p:nvPr/>
          </p:nvSpPr>
          <p:spPr>
            <a:xfrm>
              <a:off x="0" y="0"/>
              <a:ext cx="1600201" cy="73152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238B8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300">
                  <a:solidFill>
                    <a:srgbClr val="182A4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9" name="RFID Identify"/>
            <p:cNvSpPr txBox="1"/>
            <p:nvPr/>
          </p:nvSpPr>
          <p:spPr>
            <a:xfrm>
              <a:off x="86192" y="116840"/>
              <a:ext cx="1427817" cy="4978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300">
                  <a:solidFill>
                    <a:srgbClr val="182A4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RFID</a:t>
              </a:r>
              <a:br/>
              <a:r>
                <a:t>Identify</a:t>
              </a:r>
            </a:p>
          </p:txBody>
        </p:sp>
      </p:grpSp>
      <p:sp>
        <p:nvSpPr>
          <p:cNvPr id="121" name="Connector 5"/>
          <p:cNvSpPr/>
          <p:nvPr/>
        </p:nvSpPr>
        <p:spPr>
          <a:xfrm>
            <a:off x="2423160" y="5440679"/>
            <a:ext cx="612650" cy="2"/>
          </a:xfrm>
          <a:prstGeom prst="line">
            <a:avLst/>
          </a:prstGeom>
          <a:ln w="25400">
            <a:solidFill>
              <a:srgbClr val="238B8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24" name="Rounded Rectangle 6"/>
          <p:cNvGrpSpPr/>
          <p:nvPr/>
        </p:nvGrpSpPr>
        <p:grpSpPr>
          <a:xfrm>
            <a:off x="3035806" y="5074920"/>
            <a:ext cx="1600202" cy="731523"/>
            <a:chOff x="0" y="0"/>
            <a:chExt cx="1600200" cy="731521"/>
          </a:xfrm>
        </p:grpSpPr>
        <p:sp>
          <p:nvSpPr>
            <p:cNvPr id="122" name="Rounded Rectangle"/>
            <p:cNvSpPr/>
            <p:nvPr/>
          </p:nvSpPr>
          <p:spPr>
            <a:xfrm>
              <a:off x="0" y="0"/>
              <a:ext cx="1600201" cy="73152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238B8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300">
                  <a:solidFill>
                    <a:srgbClr val="182A4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3" name="Weight Verify"/>
            <p:cNvSpPr txBox="1"/>
            <p:nvPr/>
          </p:nvSpPr>
          <p:spPr>
            <a:xfrm>
              <a:off x="86192" y="116840"/>
              <a:ext cx="1427817" cy="4978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300">
                  <a:solidFill>
                    <a:srgbClr val="182A4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Weight</a:t>
              </a:r>
              <a:br/>
              <a:r>
                <a:t>Verify</a:t>
              </a:r>
            </a:p>
          </p:txBody>
        </p:sp>
      </p:grpSp>
      <p:sp>
        <p:nvSpPr>
          <p:cNvPr id="125" name="Connector 7"/>
          <p:cNvSpPr/>
          <p:nvPr/>
        </p:nvSpPr>
        <p:spPr>
          <a:xfrm>
            <a:off x="4636008" y="5440679"/>
            <a:ext cx="612650" cy="2"/>
          </a:xfrm>
          <a:prstGeom prst="line">
            <a:avLst/>
          </a:prstGeom>
          <a:ln w="25400">
            <a:solidFill>
              <a:srgbClr val="238B8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28" name="Rounded Rectangle 8"/>
          <p:cNvGrpSpPr/>
          <p:nvPr/>
        </p:nvGrpSpPr>
        <p:grpSpPr>
          <a:xfrm>
            <a:off x="5248654" y="5074920"/>
            <a:ext cx="1600202" cy="731523"/>
            <a:chOff x="0" y="0"/>
            <a:chExt cx="1600200" cy="731521"/>
          </a:xfrm>
        </p:grpSpPr>
        <p:sp>
          <p:nvSpPr>
            <p:cNvPr id="126" name="Rounded Rectangle"/>
            <p:cNvSpPr/>
            <p:nvPr/>
          </p:nvSpPr>
          <p:spPr>
            <a:xfrm>
              <a:off x="0" y="0"/>
              <a:ext cx="1600201" cy="73152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238B8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300">
                  <a:solidFill>
                    <a:srgbClr val="182A4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7" name="Process"/>
            <p:cNvSpPr txBox="1"/>
            <p:nvPr/>
          </p:nvSpPr>
          <p:spPr>
            <a:xfrm>
              <a:off x="86192" y="218440"/>
              <a:ext cx="1427817" cy="294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300">
                  <a:solidFill>
                    <a:srgbClr val="182A4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Process</a:t>
              </a:r>
            </a:p>
          </p:txBody>
        </p:sp>
      </p:grpSp>
      <p:sp>
        <p:nvSpPr>
          <p:cNvPr id="129" name="Connector 9"/>
          <p:cNvSpPr/>
          <p:nvPr/>
        </p:nvSpPr>
        <p:spPr>
          <a:xfrm>
            <a:off x="6848856" y="5440679"/>
            <a:ext cx="612650" cy="2"/>
          </a:xfrm>
          <a:prstGeom prst="line">
            <a:avLst/>
          </a:prstGeom>
          <a:ln w="25400">
            <a:solidFill>
              <a:srgbClr val="238B8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32" name="Rounded Rectangle 10"/>
          <p:cNvGrpSpPr/>
          <p:nvPr/>
        </p:nvGrpSpPr>
        <p:grpSpPr>
          <a:xfrm>
            <a:off x="7461504" y="5074920"/>
            <a:ext cx="1600202" cy="731523"/>
            <a:chOff x="0" y="0"/>
            <a:chExt cx="1600200" cy="731521"/>
          </a:xfrm>
        </p:grpSpPr>
        <p:sp>
          <p:nvSpPr>
            <p:cNvPr id="130" name="Rounded Rectangle"/>
            <p:cNvSpPr/>
            <p:nvPr/>
          </p:nvSpPr>
          <p:spPr>
            <a:xfrm>
              <a:off x="0" y="0"/>
              <a:ext cx="1600201" cy="73152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238B8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300">
                  <a:solidFill>
                    <a:srgbClr val="182A4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1" name="Calculate Bill"/>
            <p:cNvSpPr txBox="1"/>
            <p:nvPr/>
          </p:nvSpPr>
          <p:spPr>
            <a:xfrm>
              <a:off x="86192" y="116840"/>
              <a:ext cx="1427817" cy="4978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300">
                  <a:solidFill>
                    <a:srgbClr val="182A4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Calculate</a:t>
              </a:r>
              <a:br/>
              <a:r>
                <a:t>Bill</a:t>
              </a:r>
            </a:p>
          </p:txBody>
        </p:sp>
      </p:grpSp>
      <p:sp>
        <p:nvSpPr>
          <p:cNvPr id="133" name="Connector 11"/>
          <p:cNvSpPr/>
          <p:nvPr/>
        </p:nvSpPr>
        <p:spPr>
          <a:xfrm>
            <a:off x="9061704" y="5440679"/>
            <a:ext cx="612650" cy="2"/>
          </a:xfrm>
          <a:prstGeom prst="line">
            <a:avLst/>
          </a:prstGeom>
          <a:ln w="25400">
            <a:solidFill>
              <a:srgbClr val="238B8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36" name="Rounded Rectangle 12"/>
          <p:cNvGrpSpPr/>
          <p:nvPr/>
        </p:nvGrpSpPr>
        <p:grpSpPr>
          <a:xfrm>
            <a:off x="9674352" y="5074920"/>
            <a:ext cx="1600202" cy="731523"/>
            <a:chOff x="0" y="0"/>
            <a:chExt cx="1600200" cy="731521"/>
          </a:xfrm>
        </p:grpSpPr>
        <p:sp>
          <p:nvSpPr>
            <p:cNvPr id="134" name="Rounded Rectangle"/>
            <p:cNvSpPr/>
            <p:nvPr/>
          </p:nvSpPr>
          <p:spPr>
            <a:xfrm>
              <a:off x="0" y="0"/>
              <a:ext cx="1600201" cy="73152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238B8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300">
                  <a:solidFill>
                    <a:srgbClr val="182A4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5" name="Display"/>
            <p:cNvSpPr txBox="1"/>
            <p:nvPr/>
          </p:nvSpPr>
          <p:spPr>
            <a:xfrm>
              <a:off x="86192" y="218440"/>
              <a:ext cx="1427817" cy="294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300">
                  <a:solidFill>
                    <a:srgbClr val="182A43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Display</a:t>
              </a:r>
            </a:p>
          </p:txBody>
        </p:sp>
      </p:grpSp>
      <p:sp>
        <p:nvSpPr>
          <p:cNvPr id="137" name="TextBox 13"/>
          <p:cNvSpPr txBox="1"/>
          <p:nvPr/>
        </p:nvSpPr>
        <p:spPr>
          <a:xfrm>
            <a:off x="8764090" y="6473953"/>
            <a:ext cx="2757348" cy="218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800">
                <a:solidFill>
                  <a:srgbClr val="6974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RFID + Weight Sensor Based Smart Billing Trolley    |    3/8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0" name="TextBox 2"/>
          <p:cNvSpPr txBox="1"/>
          <p:nvPr/>
        </p:nvSpPr>
        <p:spPr>
          <a:xfrm>
            <a:off x="640078" y="384048"/>
            <a:ext cx="1838564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8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Objectives</a:t>
            </a:r>
          </a:p>
        </p:txBody>
      </p:sp>
      <p:sp>
        <p:nvSpPr>
          <p:cNvPr id="141" name="Rounded Rectangle 3"/>
          <p:cNvSpPr/>
          <p:nvPr/>
        </p:nvSpPr>
        <p:spPr>
          <a:xfrm>
            <a:off x="685800" y="1417319"/>
            <a:ext cx="3429000" cy="17373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2" name="Rectangle 4"/>
          <p:cNvSpPr/>
          <p:nvPr/>
        </p:nvSpPr>
        <p:spPr>
          <a:xfrm>
            <a:off x="685798" y="1417319"/>
            <a:ext cx="82299" cy="1737362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3" name="TextBox 5"/>
          <p:cNvSpPr txBox="1"/>
          <p:nvPr/>
        </p:nvSpPr>
        <p:spPr>
          <a:xfrm>
            <a:off x="960119" y="1581911"/>
            <a:ext cx="1689778" cy="396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000">
                <a:solidFill>
                  <a:srgbClr val="182A4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01  Automate</a:t>
            </a:r>
          </a:p>
        </p:txBody>
      </p:sp>
      <p:sp>
        <p:nvSpPr>
          <p:cNvPr id="144" name="TextBox 6"/>
          <p:cNvSpPr txBox="1"/>
          <p:nvPr/>
        </p:nvSpPr>
        <p:spPr>
          <a:xfrm>
            <a:off x="960118" y="2039112"/>
            <a:ext cx="2926084" cy="57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Automate product identification during shopping.</a:t>
            </a:r>
          </a:p>
        </p:txBody>
      </p:sp>
      <p:sp>
        <p:nvSpPr>
          <p:cNvPr id="145" name="Rounded Rectangle 7"/>
          <p:cNvSpPr/>
          <p:nvPr/>
        </p:nvSpPr>
        <p:spPr>
          <a:xfrm>
            <a:off x="4480559" y="1417319"/>
            <a:ext cx="3429002" cy="17373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6" name="Rectangle 8"/>
          <p:cNvSpPr/>
          <p:nvPr/>
        </p:nvSpPr>
        <p:spPr>
          <a:xfrm>
            <a:off x="4480559" y="1417319"/>
            <a:ext cx="82298" cy="1737362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47" name="TextBox 9"/>
          <p:cNvSpPr txBox="1"/>
          <p:nvPr/>
        </p:nvSpPr>
        <p:spPr>
          <a:xfrm>
            <a:off x="4754879" y="1581911"/>
            <a:ext cx="1219853" cy="396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000">
                <a:solidFill>
                  <a:srgbClr val="182A4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  Verify</a:t>
            </a:r>
          </a:p>
        </p:txBody>
      </p:sp>
      <p:sp>
        <p:nvSpPr>
          <p:cNvPr id="148" name="TextBox 10"/>
          <p:cNvSpPr txBox="1"/>
          <p:nvPr/>
        </p:nvSpPr>
        <p:spPr>
          <a:xfrm>
            <a:off x="4754879" y="2039112"/>
            <a:ext cx="2926082" cy="57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 weight sensing for product verification.</a:t>
            </a:r>
          </a:p>
        </p:txBody>
      </p:sp>
      <p:sp>
        <p:nvSpPr>
          <p:cNvPr id="149" name="Rounded Rectangle 11"/>
          <p:cNvSpPr/>
          <p:nvPr/>
        </p:nvSpPr>
        <p:spPr>
          <a:xfrm>
            <a:off x="8275318" y="1417319"/>
            <a:ext cx="3429003" cy="17373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0" name="Rectangle 12"/>
          <p:cNvSpPr/>
          <p:nvPr/>
        </p:nvSpPr>
        <p:spPr>
          <a:xfrm>
            <a:off x="8275318" y="1417319"/>
            <a:ext cx="82298" cy="1737362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1" name="TextBox 13"/>
          <p:cNvSpPr txBox="1"/>
          <p:nvPr/>
        </p:nvSpPr>
        <p:spPr>
          <a:xfrm>
            <a:off x="8549639" y="1581911"/>
            <a:ext cx="1657160" cy="396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000">
                <a:solidFill>
                  <a:srgbClr val="182A4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  Calculate</a:t>
            </a:r>
          </a:p>
        </p:txBody>
      </p:sp>
      <p:sp>
        <p:nvSpPr>
          <p:cNvPr id="152" name="TextBox 14"/>
          <p:cNvSpPr txBox="1"/>
          <p:nvPr/>
        </p:nvSpPr>
        <p:spPr>
          <a:xfrm>
            <a:off x="8549639" y="2039112"/>
            <a:ext cx="2926082" cy="57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Calculate the running bill in real time.</a:t>
            </a:r>
          </a:p>
        </p:txBody>
      </p:sp>
      <p:sp>
        <p:nvSpPr>
          <p:cNvPr id="153" name="Rounded Rectangle 15"/>
          <p:cNvSpPr/>
          <p:nvPr/>
        </p:nvSpPr>
        <p:spPr>
          <a:xfrm>
            <a:off x="685800" y="3474720"/>
            <a:ext cx="3429000" cy="17373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4" name="Rectangle 16"/>
          <p:cNvSpPr/>
          <p:nvPr/>
        </p:nvSpPr>
        <p:spPr>
          <a:xfrm>
            <a:off x="685798" y="3474720"/>
            <a:ext cx="82299" cy="1737362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5" name="TextBox 17"/>
          <p:cNvSpPr txBox="1"/>
          <p:nvPr/>
        </p:nvSpPr>
        <p:spPr>
          <a:xfrm>
            <a:off x="960118" y="3639311"/>
            <a:ext cx="1445329" cy="396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000">
                <a:solidFill>
                  <a:srgbClr val="182A4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04  Reduce</a:t>
            </a:r>
          </a:p>
        </p:txBody>
      </p:sp>
      <p:sp>
        <p:nvSpPr>
          <p:cNvPr id="156" name="TextBox 18"/>
          <p:cNvSpPr txBox="1"/>
          <p:nvPr/>
        </p:nvSpPr>
        <p:spPr>
          <a:xfrm>
            <a:off x="960118" y="4096511"/>
            <a:ext cx="2926084" cy="57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Reduce billing time and checkout queues.</a:t>
            </a:r>
          </a:p>
        </p:txBody>
      </p:sp>
      <p:sp>
        <p:nvSpPr>
          <p:cNvPr id="157" name="Rounded Rectangle 19"/>
          <p:cNvSpPr/>
          <p:nvPr/>
        </p:nvSpPr>
        <p:spPr>
          <a:xfrm>
            <a:off x="4480559" y="3474720"/>
            <a:ext cx="3429002" cy="17373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8" name="Rectangle 20"/>
          <p:cNvSpPr/>
          <p:nvPr/>
        </p:nvSpPr>
        <p:spPr>
          <a:xfrm>
            <a:off x="4480559" y="3474720"/>
            <a:ext cx="82298" cy="1737362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59" name="TextBox 21"/>
          <p:cNvSpPr txBox="1"/>
          <p:nvPr/>
        </p:nvSpPr>
        <p:spPr>
          <a:xfrm>
            <a:off x="4754879" y="3639311"/>
            <a:ext cx="1515897" cy="396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000">
                <a:solidFill>
                  <a:srgbClr val="182A4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05  Improve</a:t>
            </a:r>
          </a:p>
        </p:txBody>
      </p:sp>
      <p:sp>
        <p:nvSpPr>
          <p:cNvPr id="160" name="TextBox 22"/>
          <p:cNvSpPr txBox="1"/>
          <p:nvPr/>
        </p:nvSpPr>
        <p:spPr>
          <a:xfrm>
            <a:off x="4754879" y="4096511"/>
            <a:ext cx="2926082" cy="57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Improve billing accuracy and transparency.</a:t>
            </a:r>
          </a:p>
        </p:txBody>
      </p:sp>
      <p:sp>
        <p:nvSpPr>
          <p:cNvPr id="161" name="Rounded Rectangle 23"/>
          <p:cNvSpPr/>
          <p:nvPr/>
        </p:nvSpPr>
        <p:spPr>
          <a:xfrm>
            <a:off x="8275318" y="3474720"/>
            <a:ext cx="3429003" cy="17373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2" name="Rectangle 24"/>
          <p:cNvSpPr/>
          <p:nvPr/>
        </p:nvSpPr>
        <p:spPr>
          <a:xfrm>
            <a:off x="8275318" y="3474720"/>
            <a:ext cx="82298" cy="1737362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3" name="TextBox 25"/>
          <p:cNvSpPr txBox="1"/>
          <p:nvPr/>
        </p:nvSpPr>
        <p:spPr>
          <a:xfrm>
            <a:off x="8549639" y="3639311"/>
            <a:ext cx="1515774" cy="396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000">
                <a:solidFill>
                  <a:srgbClr val="182A4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06  Simplify</a:t>
            </a:r>
          </a:p>
        </p:txBody>
      </p:sp>
      <p:sp>
        <p:nvSpPr>
          <p:cNvPr id="164" name="TextBox 26"/>
          <p:cNvSpPr txBox="1"/>
          <p:nvPr/>
        </p:nvSpPr>
        <p:spPr>
          <a:xfrm>
            <a:off x="8549639" y="4096511"/>
            <a:ext cx="2926082" cy="57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Minimize manual intervention at checkout.</a:t>
            </a:r>
          </a:p>
        </p:txBody>
      </p:sp>
      <p:sp>
        <p:nvSpPr>
          <p:cNvPr id="165" name="TextBox 27"/>
          <p:cNvSpPr txBox="1"/>
          <p:nvPr/>
        </p:nvSpPr>
        <p:spPr>
          <a:xfrm>
            <a:off x="8764090" y="6473953"/>
            <a:ext cx="2757348" cy="218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800">
                <a:solidFill>
                  <a:srgbClr val="6974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RFID + Weight Sensor Based Smart Billing Trolley    |    4/8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68" name="TextBox 2"/>
          <p:cNvSpPr txBox="1"/>
          <p:nvPr/>
        </p:nvSpPr>
        <p:spPr>
          <a:xfrm>
            <a:off x="640078" y="384048"/>
            <a:ext cx="3426653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8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169" name="TextBox 3"/>
          <p:cNvSpPr txBox="1"/>
          <p:nvPr/>
        </p:nvSpPr>
        <p:spPr>
          <a:xfrm>
            <a:off x="667510" y="960120"/>
            <a:ext cx="3932743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6974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RFID identification + weight verification + real-time billing</a:t>
            </a:r>
          </a:p>
        </p:txBody>
      </p:sp>
      <p:grpSp>
        <p:nvGrpSpPr>
          <p:cNvPr id="172" name="Rounded Rectangle 4"/>
          <p:cNvGrpSpPr/>
          <p:nvPr/>
        </p:nvGrpSpPr>
        <p:grpSpPr>
          <a:xfrm>
            <a:off x="640079" y="2628900"/>
            <a:ext cx="1828801" cy="914401"/>
            <a:chOff x="0" y="0"/>
            <a:chExt cx="1828800" cy="914400"/>
          </a:xfrm>
        </p:grpSpPr>
        <p:sp>
          <p:nvSpPr>
            <p:cNvPr id="170" name="Rounded Rectangle"/>
            <p:cNvSpPr/>
            <p:nvPr/>
          </p:nvSpPr>
          <p:spPr>
            <a:xfrm>
              <a:off x="0" y="0"/>
              <a:ext cx="1828801" cy="91440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238B8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100">
                  <a:solidFill>
                    <a:srgbClr val="69747D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71" name="RFID Tags…"/>
            <p:cNvSpPr txBox="1"/>
            <p:nvPr/>
          </p:nvSpPr>
          <p:spPr>
            <a:xfrm>
              <a:off x="95119" y="214630"/>
              <a:ext cx="1638563" cy="485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500">
                  <a:solidFill>
                    <a:srgbClr val="182A4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RFID Tags</a:t>
              </a:r>
            </a:p>
            <a:p>
              <a:pPr algn="ctr">
                <a:defRPr sz="1100">
                  <a:solidFill>
                    <a:srgbClr val="69747D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Product IDs</a:t>
              </a:r>
            </a:p>
          </p:txBody>
        </p:sp>
      </p:grpSp>
      <p:grpSp>
        <p:nvGrpSpPr>
          <p:cNvPr id="175" name="Rounded Rectangle 5"/>
          <p:cNvGrpSpPr/>
          <p:nvPr/>
        </p:nvGrpSpPr>
        <p:grpSpPr>
          <a:xfrm>
            <a:off x="6492240" y="939672"/>
            <a:ext cx="1828802" cy="914401"/>
            <a:chOff x="0" y="0"/>
            <a:chExt cx="1828800" cy="914400"/>
          </a:xfrm>
        </p:grpSpPr>
        <p:sp>
          <p:nvSpPr>
            <p:cNvPr id="173" name="Rounded Rectangle"/>
            <p:cNvSpPr/>
            <p:nvPr/>
          </p:nvSpPr>
          <p:spPr>
            <a:xfrm>
              <a:off x="0" y="0"/>
              <a:ext cx="1828801" cy="91440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238B8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100">
                  <a:solidFill>
                    <a:srgbClr val="69747D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74" name="Weight Sensor…"/>
            <p:cNvSpPr txBox="1"/>
            <p:nvPr/>
          </p:nvSpPr>
          <p:spPr>
            <a:xfrm>
              <a:off x="95119" y="214630"/>
              <a:ext cx="1638563" cy="485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500">
                  <a:solidFill>
                    <a:srgbClr val="182A4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Weight Sensor</a:t>
              </a:r>
            </a:p>
            <a:p>
              <a:pPr algn="ctr">
                <a:defRPr sz="1100">
                  <a:solidFill>
                    <a:srgbClr val="69747D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Load / weight</a:t>
              </a:r>
            </a:p>
          </p:txBody>
        </p:sp>
      </p:grpSp>
      <p:grpSp>
        <p:nvGrpSpPr>
          <p:cNvPr id="178" name="Rounded Rectangle 6"/>
          <p:cNvGrpSpPr/>
          <p:nvPr/>
        </p:nvGrpSpPr>
        <p:grpSpPr>
          <a:xfrm>
            <a:off x="3337559" y="2514600"/>
            <a:ext cx="2057402" cy="1143000"/>
            <a:chOff x="0" y="0"/>
            <a:chExt cx="2057400" cy="1143000"/>
          </a:xfrm>
        </p:grpSpPr>
        <p:sp>
          <p:nvSpPr>
            <p:cNvPr id="176" name="Rounded Rectangle"/>
            <p:cNvSpPr/>
            <p:nvPr/>
          </p:nvSpPr>
          <p:spPr>
            <a:xfrm>
              <a:off x="0" y="0"/>
              <a:ext cx="2057401" cy="11430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238B8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100">
                  <a:solidFill>
                    <a:srgbClr val="69747D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77" name="RFID Reader…"/>
            <p:cNvSpPr txBox="1"/>
            <p:nvPr/>
          </p:nvSpPr>
          <p:spPr>
            <a:xfrm>
              <a:off x="106279" y="328929"/>
              <a:ext cx="1844843" cy="485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500">
                  <a:solidFill>
                    <a:srgbClr val="182A4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RFID Reader</a:t>
              </a:r>
            </a:p>
            <a:p>
              <a:pPr algn="ctr">
                <a:defRPr sz="1100">
                  <a:solidFill>
                    <a:srgbClr val="69747D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Reads product ID</a:t>
              </a:r>
            </a:p>
          </p:txBody>
        </p:sp>
      </p:grpSp>
      <p:grpSp>
        <p:nvGrpSpPr>
          <p:cNvPr id="181" name="Rounded Rectangle 7"/>
          <p:cNvGrpSpPr/>
          <p:nvPr/>
        </p:nvGrpSpPr>
        <p:grpSpPr>
          <a:xfrm>
            <a:off x="6263640" y="2423160"/>
            <a:ext cx="2331723" cy="1325883"/>
            <a:chOff x="0" y="0"/>
            <a:chExt cx="2331722" cy="1325881"/>
          </a:xfrm>
        </p:grpSpPr>
        <p:sp>
          <p:nvSpPr>
            <p:cNvPr id="179" name="Rounded Rectangle"/>
            <p:cNvSpPr/>
            <p:nvPr/>
          </p:nvSpPr>
          <p:spPr>
            <a:xfrm>
              <a:off x="0" y="0"/>
              <a:ext cx="2331723" cy="132588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238B8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100">
                  <a:solidFill>
                    <a:srgbClr val="69747D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80" name="Microcontroller…"/>
            <p:cNvSpPr txBox="1"/>
            <p:nvPr/>
          </p:nvSpPr>
          <p:spPr>
            <a:xfrm>
              <a:off x="115206" y="420370"/>
              <a:ext cx="2101310" cy="485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500">
                  <a:solidFill>
                    <a:srgbClr val="182A4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Microcontroller</a:t>
              </a:r>
            </a:p>
            <a:p>
              <a:pPr algn="ctr">
                <a:defRPr sz="1100">
                  <a:solidFill>
                    <a:srgbClr val="69747D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Process + verify</a:t>
              </a:r>
            </a:p>
          </p:txBody>
        </p:sp>
      </p:grpSp>
      <p:grpSp>
        <p:nvGrpSpPr>
          <p:cNvPr id="184" name="Rounded Rectangle 8"/>
          <p:cNvGrpSpPr/>
          <p:nvPr/>
        </p:nvGrpSpPr>
        <p:grpSpPr>
          <a:xfrm>
            <a:off x="9281159" y="1645920"/>
            <a:ext cx="2011683" cy="914402"/>
            <a:chOff x="0" y="0"/>
            <a:chExt cx="2011682" cy="914400"/>
          </a:xfrm>
        </p:grpSpPr>
        <p:sp>
          <p:nvSpPr>
            <p:cNvPr id="182" name="Rounded Rectangle"/>
            <p:cNvSpPr/>
            <p:nvPr/>
          </p:nvSpPr>
          <p:spPr>
            <a:xfrm>
              <a:off x="0" y="0"/>
              <a:ext cx="2011683" cy="91440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238B8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100">
                  <a:solidFill>
                    <a:srgbClr val="69747D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83" name="Product Data…"/>
            <p:cNvSpPr txBox="1"/>
            <p:nvPr/>
          </p:nvSpPr>
          <p:spPr>
            <a:xfrm>
              <a:off x="95119" y="214630"/>
              <a:ext cx="1821443" cy="485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500">
                  <a:solidFill>
                    <a:srgbClr val="182A4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Product Data</a:t>
              </a:r>
            </a:p>
            <a:p>
              <a:pPr algn="ctr">
                <a:defRPr sz="1100">
                  <a:solidFill>
                    <a:srgbClr val="69747D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Name + price</a:t>
              </a:r>
            </a:p>
          </p:txBody>
        </p:sp>
      </p:grpSp>
      <p:grpSp>
        <p:nvGrpSpPr>
          <p:cNvPr id="187" name="Rounded Rectangle 9"/>
          <p:cNvGrpSpPr/>
          <p:nvPr/>
        </p:nvGrpSpPr>
        <p:grpSpPr>
          <a:xfrm>
            <a:off x="9281159" y="3063238"/>
            <a:ext cx="2011683" cy="914402"/>
            <a:chOff x="0" y="0"/>
            <a:chExt cx="2011682" cy="914400"/>
          </a:xfrm>
        </p:grpSpPr>
        <p:sp>
          <p:nvSpPr>
            <p:cNvPr id="185" name="Rounded Rectangle"/>
            <p:cNvSpPr/>
            <p:nvPr/>
          </p:nvSpPr>
          <p:spPr>
            <a:xfrm>
              <a:off x="0" y="0"/>
              <a:ext cx="2011683" cy="91440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238B8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100">
                  <a:solidFill>
                    <a:srgbClr val="69747D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86" name="Display…"/>
            <p:cNvSpPr txBox="1"/>
            <p:nvPr/>
          </p:nvSpPr>
          <p:spPr>
            <a:xfrm>
              <a:off x="95119" y="214630"/>
              <a:ext cx="1821443" cy="485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500">
                  <a:solidFill>
                    <a:srgbClr val="182A4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Display</a:t>
              </a:r>
            </a:p>
            <a:p>
              <a:pPr algn="ctr">
                <a:defRPr sz="1100">
                  <a:solidFill>
                    <a:srgbClr val="69747D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Items + total</a:t>
              </a:r>
            </a:p>
          </p:txBody>
        </p:sp>
      </p:grpSp>
      <p:sp>
        <p:nvSpPr>
          <p:cNvPr id="188" name="Connector 10"/>
          <p:cNvSpPr/>
          <p:nvPr/>
        </p:nvSpPr>
        <p:spPr>
          <a:xfrm>
            <a:off x="2468878" y="3086099"/>
            <a:ext cx="868682" cy="2"/>
          </a:xfrm>
          <a:prstGeom prst="line">
            <a:avLst/>
          </a:prstGeom>
          <a:ln w="27940">
            <a:solidFill>
              <a:srgbClr val="238B8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" name="Connector 11"/>
          <p:cNvSpPr/>
          <p:nvPr/>
        </p:nvSpPr>
        <p:spPr>
          <a:xfrm flipV="1">
            <a:off x="7406640" y="1867192"/>
            <a:ext cx="2" cy="548057"/>
          </a:xfrm>
          <a:prstGeom prst="line">
            <a:avLst/>
          </a:prstGeom>
          <a:ln w="27940">
            <a:solidFill>
              <a:srgbClr val="238B8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" name="Connector 12"/>
          <p:cNvSpPr/>
          <p:nvPr/>
        </p:nvSpPr>
        <p:spPr>
          <a:xfrm>
            <a:off x="5394959" y="3090672"/>
            <a:ext cx="868682" cy="2"/>
          </a:xfrm>
          <a:prstGeom prst="line">
            <a:avLst/>
          </a:prstGeom>
          <a:ln w="27940">
            <a:solidFill>
              <a:srgbClr val="238B8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" name="Connector 13"/>
          <p:cNvSpPr/>
          <p:nvPr/>
        </p:nvSpPr>
        <p:spPr>
          <a:xfrm flipV="1">
            <a:off x="8595359" y="2103120"/>
            <a:ext cx="685802" cy="548642"/>
          </a:xfrm>
          <a:prstGeom prst="line">
            <a:avLst/>
          </a:prstGeom>
          <a:ln w="27940">
            <a:solidFill>
              <a:srgbClr val="238B8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14"/>
          <p:cNvSpPr/>
          <p:nvPr/>
        </p:nvSpPr>
        <p:spPr>
          <a:xfrm>
            <a:off x="8595359" y="3337559"/>
            <a:ext cx="685802" cy="182882"/>
          </a:xfrm>
          <a:prstGeom prst="line">
            <a:avLst/>
          </a:prstGeom>
          <a:ln w="27940">
            <a:solidFill>
              <a:srgbClr val="238B8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5" name="Rounded Rectangle 15"/>
          <p:cNvGrpSpPr/>
          <p:nvPr/>
        </p:nvGrpSpPr>
        <p:grpSpPr>
          <a:xfrm>
            <a:off x="6263640" y="4709159"/>
            <a:ext cx="2331723" cy="868683"/>
            <a:chOff x="0" y="0"/>
            <a:chExt cx="2331722" cy="868681"/>
          </a:xfrm>
        </p:grpSpPr>
        <p:sp>
          <p:nvSpPr>
            <p:cNvPr id="193" name="Rounded Rectangle"/>
            <p:cNvSpPr/>
            <p:nvPr/>
          </p:nvSpPr>
          <p:spPr>
            <a:xfrm>
              <a:off x="0" y="0"/>
              <a:ext cx="2331723" cy="868682"/>
            </a:xfrm>
            <a:prstGeom prst="roundRect">
              <a:avLst>
                <a:gd name="adj" fmla="val 16667"/>
              </a:avLst>
            </a:prstGeom>
            <a:solidFill>
              <a:srgbClr val="238B8B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5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94" name="Real-Time Billing"/>
            <p:cNvSpPr txBox="1"/>
            <p:nvPr/>
          </p:nvSpPr>
          <p:spPr>
            <a:xfrm>
              <a:off x="88125" y="274320"/>
              <a:ext cx="2155472" cy="3200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5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Real-Time Billing</a:t>
              </a:r>
            </a:p>
          </p:txBody>
        </p:sp>
      </p:grpSp>
      <p:sp>
        <p:nvSpPr>
          <p:cNvPr id="196" name="Connector 16"/>
          <p:cNvSpPr/>
          <p:nvPr/>
        </p:nvSpPr>
        <p:spPr>
          <a:xfrm>
            <a:off x="7406640" y="3749037"/>
            <a:ext cx="2" cy="960123"/>
          </a:xfrm>
          <a:prstGeom prst="line">
            <a:avLst/>
          </a:prstGeom>
          <a:ln w="27940">
            <a:solidFill>
              <a:srgbClr val="238B8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" name="TextBox 17"/>
          <p:cNvSpPr txBox="1"/>
          <p:nvPr/>
        </p:nvSpPr>
        <p:spPr>
          <a:xfrm>
            <a:off x="8764090" y="6473953"/>
            <a:ext cx="2757348" cy="218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800">
                <a:solidFill>
                  <a:srgbClr val="6974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RFID + Weight Sensor Based Smart Billing Trolley    |    5/8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00" name="TextBox 2"/>
          <p:cNvSpPr txBox="1"/>
          <p:nvPr/>
        </p:nvSpPr>
        <p:spPr>
          <a:xfrm>
            <a:off x="640078" y="384048"/>
            <a:ext cx="4441623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8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Working &amp; Implementation</a:t>
            </a:r>
          </a:p>
        </p:txBody>
      </p:sp>
      <p:grpSp>
        <p:nvGrpSpPr>
          <p:cNvPr id="203" name="Oval 3"/>
          <p:cNvGrpSpPr/>
          <p:nvPr/>
        </p:nvGrpSpPr>
        <p:grpSpPr>
          <a:xfrm>
            <a:off x="731519" y="1325880"/>
            <a:ext cx="438915" cy="438915"/>
            <a:chOff x="0" y="0"/>
            <a:chExt cx="438914" cy="438914"/>
          </a:xfrm>
        </p:grpSpPr>
        <p:sp>
          <p:nvSpPr>
            <p:cNvPr id="201" name="Circle"/>
            <p:cNvSpPr/>
            <p:nvPr/>
          </p:nvSpPr>
          <p:spPr>
            <a:xfrm>
              <a:off x="-1" y="-1"/>
              <a:ext cx="438915" cy="438915"/>
            </a:xfrm>
            <a:prstGeom prst="ellipse">
              <a:avLst/>
            </a:prstGeom>
            <a:solidFill>
              <a:srgbClr val="238B8B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2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2" name="1"/>
            <p:cNvSpPr txBox="1"/>
            <p:nvPr/>
          </p:nvSpPr>
          <p:spPr>
            <a:xfrm>
              <a:off x="109997" y="84836"/>
              <a:ext cx="218920" cy="2692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204" name="TextBox 4"/>
          <p:cNvSpPr txBox="1"/>
          <p:nvPr/>
        </p:nvSpPr>
        <p:spPr>
          <a:xfrm>
            <a:off x="1371600" y="1307592"/>
            <a:ext cx="4573348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6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Customer places a tagged product into the trolley.</a:t>
            </a:r>
          </a:p>
        </p:txBody>
      </p:sp>
      <p:grpSp>
        <p:nvGrpSpPr>
          <p:cNvPr id="207" name="Oval 5"/>
          <p:cNvGrpSpPr/>
          <p:nvPr/>
        </p:nvGrpSpPr>
        <p:grpSpPr>
          <a:xfrm>
            <a:off x="6355079" y="1325880"/>
            <a:ext cx="438915" cy="438915"/>
            <a:chOff x="0" y="0"/>
            <a:chExt cx="438914" cy="438914"/>
          </a:xfrm>
        </p:grpSpPr>
        <p:sp>
          <p:nvSpPr>
            <p:cNvPr id="205" name="Circle"/>
            <p:cNvSpPr/>
            <p:nvPr/>
          </p:nvSpPr>
          <p:spPr>
            <a:xfrm>
              <a:off x="-1" y="-1"/>
              <a:ext cx="438915" cy="438915"/>
            </a:xfrm>
            <a:prstGeom prst="ellipse">
              <a:avLst/>
            </a:prstGeom>
            <a:solidFill>
              <a:srgbClr val="238B8B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2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6" name="2"/>
            <p:cNvSpPr txBox="1"/>
            <p:nvPr/>
          </p:nvSpPr>
          <p:spPr>
            <a:xfrm>
              <a:off x="109997" y="84836"/>
              <a:ext cx="218920" cy="2692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208" name="TextBox 6"/>
          <p:cNvSpPr txBox="1"/>
          <p:nvPr/>
        </p:nvSpPr>
        <p:spPr>
          <a:xfrm>
            <a:off x="6995159" y="1307592"/>
            <a:ext cx="3989546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6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RFID reader detects the unique product ID.</a:t>
            </a:r>
          </a:p>
        </p:txBody>
      </p:sp>
      <p:grpSp>
        <p:nvGrpSpPr>
          <p:cNvPr id="211" name="Oval 7"/>
          <p:cNvGrpSpPr/>
          <p:nvPr/>
        </p:nvGrpSpPr>
        <p:grpSpPr>
          <a:xfrm>
            <a:off x="731519" y="2496310"/>
            <a:ext cx="438915" cy="438915"/>
            <a:chOff x="0" y="0"/>
            <a:chExt cx="438914" cy="438914"/>
          </a:xfrm>
        </p:grpSpPr>
        <p:sp>
          <p:nvSpPr>
            <p:cNvPr id="209" name="Circle"/>
            <p:cNvSpPr/>
            <p:nvPr/>
          </p:nvSpPr>
          <p:spPr>
            <a:xfrm>
              <a:off x="-1" y="-1"/>
              <a:ext cx="438915" cy="438915"/>
            </a:xfrm>
            <a:prstGeom prst="ellipse">
              <a:avLst/>
            </a:prstGeom>
            <a:solidFill>
              <a:srgbClr val="238B8B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2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10" name="3"/>
            <p:cNvSpPr txBox="1"/>
            <p:nvPr/>
          </p:nvSpPr>
          <p:spPr>
            <a:xfrm>
              <a:off x="109997" y="84836"/>
              <a:ext cx="218920" cy="2692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212" name="TextBox 8"/>
          <p:cNvSpPr txBox="1"/>
          <p:nvPr/>
        </p:nvSpPr>
        <p:spPr>
          <a:xfrm>
            <a:off x="1371600" y="2478023"/>
            <a:ext cx="4407355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6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Controller retrieves the product name and price.</a:t>
            </a:r>
          </a:p>
        </p:txBody>
      </p:sp>
      <p:grpSp>
        <p:nvGrpSpPr>
          <p:cNvPr id="215" name="Oval 9"/>
          <p:cNvGrpSpPr/>
          <p:nvPr/>
        </p:nvGrpSpPr>
        <p:grpSpPr>
          <a:xfrm>
            <a:off x="6355079" y="2496310"/>
            <a:ext cx="438915" cy="438915"/>
            <a:chOff x="0" y="0"/>
            <a:chExt cx="438914" cy="438914"/>
          </a:xfrm>
        </p:grpSpPr>
        <p:sp>
          <p:nvSpPr>
            <p:cNvPr id="213" name="Circle"/>
            <p:cNvSpPr/>
            <p:nvPr/>
          </p:nvSpPr>
          <p:spPr>
            <a:xfrm>
              <a:off x="-1" y="-1"/>
              <a:ext cx="438915" cy="438915"/>
            </a:xfrm>
            <a:prstGeom prst="ellipse">
              <a:avLst/>
            </a:prstGeom>
            <a:solidFill>
              <a:srgbClr val="238B8B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2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14" name="4"/>
            <p:cNvSpPr txBox="1"/>
            <p:nvPr/>
          </p:nvSpPr>
          <p:spPr>
            <a:xfrm>
              <a:off x="109997" y="84836"/>
              <a:ext cx="218920" cy="2692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216" name="TextBox 10"/>
          <p:cNvSpPr txBox="1"/>
          <p:nvPr/>
        </p:nvSpPr>
        <p:spPr>
          <a:xfrm>
            <a:off x="6995159" y="2478023"/>
            <a:ext cx="3782476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6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Weight sensor measures the trolley load.</a:t>
            </a:r>
          </a:p>
        </p:txBody>
      </p:sp>
      <p:grpSp>
        <p:nvGrpSpPr>
          <p:cNvPr id="219" name="Oval 11"/>
          <p:cNvGrpSpPr/>
          <p:nvPr/>
        </p:nvGrpSpPr>
        <p:grpSpPr>
          <a:xfrm>
            <a:off x="731519" y="3666744"/>
            <a:ext cx="438915" cy="438915"/>
            <a:chOff x="0" y="0"/>
            <a:chExt cx="438914" cy="438914"/>
          </a:xfrm>
        </p:grpSpPr>
        <p:sp>
          <p:nvSpPr>
            <p:cNvPr id="217" name="Circle"/>
            <p:cNvSpPr/>
            <p:nvPr/>
          </p:nvSpPr>
          <p:spPr>
            <a:xfrm>
              <a:off x="-1" y="-1"/>
              <a:ext cx="438915" cy="438915"/>
            </a:xfrm>
            <a:prstGeom prst="ellipse">
              <a:avLst/>
            </a:prstGeom>
            <a:solidFill>
              <a:srgbClr val="238B8B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2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18" name="5"/>
            <p:cNvSpPr txBox="1"/>
            <p:nvPr/>
          </p:nvSpPr>
          <p:spPr>
            <a:xfrm>
              <a:off x="109997" y="84836"/>
              <a:ext cx="218920" cy="2692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220" name="TextBox 12"/>
          <p:cNvSpPr txBox="1"/>
          <p:nvPr/>
        </p:nvSpPr>
        <p:spPr>
          <a:xfrm>
            <a:off x="1371599" y="3648455"/>
            <a:ext cx="4520168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6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Controller verifies the product/weight information.</a:t>
            </a:r>
          </a:p>
        </p:txBody>
      </p:sp>
      <p:grpSp>
        <p:nvGrpSpPr>
          <p:cNvPr id="223" name="Oval 13"/>
          <p:cNvGrpSpPr/>
          <p:nvPr/>
        </p:nvGrpSpPr>
        <p:grpSpPr>
          <a:xfrm>
            <a:off x="6355079" y="3666744"/>
            <a:ext cx="438915" cy="438915"/>
            <a:chOff x="0" y="0"/>
            <a:chExt cx="438914" cy="438914"/>
          </a:xfrm>
        </p:grpSpPr>
        <p:sp>
          <p:nvSpPr>
            <p:cNvPr id="221" name="Circle"/>
            <p:cNvSpPr/>
            <p:nvPr/>
          </p:nvSpPr>
          <p:spPr>
            <a:xfrm>
              <a:off x="-1" y="-1"/>
              <a:ext cx="438915" cy="438915"/>
            </a:xfrm>
            <a:prstGeom prst="ellipse">
              <a:avLst/>
            </a:prstGeom>
            <a:solidFill>
              <a:srgbClr val="238B8B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2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22" name="6"/>
            <p:cNvSpPr txBox="1"/>
            <p:nvPr/>
          </p:nvSpPr>
          <p:spPr>
            <a:xfrm>
              <a:off x="109997" y="84836"/>
              <a:ext cx="218920" cy="2692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6</a:t>
              </a:r>
            </a:p>
          </p:txBody>
        </p:sp>
      </p:grpSp>
      <p:sp>
        <p:nvSpPr>
          <p:cNvPr id="224" name="TextBox 14"/>
          <p:cNvSpPr txBox="1"/>
          <p:nvPr/>
        </p:nvSpPr>
        <p:spPr>
          <a:xfrm>
            <a:off x="6995159" y="3648455"/>
            <a:ext cx="3579574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6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Running total is updated automatically.</a:t>
            </a:r>
          </a:p>
        </p:txBody>
      </p:sp>
      <p:grpSp>
        <p:nvGrpSpPr>
          <p:cNvPr id="227" name="Oval 15"/>
          <p:cNvGrpSpPr/>
          <p:nvPr/>
        </p:nvGrpSpPr>
        <p:grpSpPr>
          <a:xfrm>
            <a:off x="731519" y="4837176"/>
            <a:ext cx="438915" cy="438915"/>
            <a:chOff x="0" y="0"/>
            <a:chExt cx="438914" cy="438914"/>
          </a:xfrm>
        </p:grpSpPr>
        <p:sp>
          <p:nvSpPr>
            <p:cNvPr id="225" name="Circle"/>
            <p:cNvSpPr/>
            <p:nvPr/>
          </p:nvSpPr>
          <p:spPr>
            <a:xfrm>
              <a:off x="-1" y="-1"/>
              <a:ext cx="438915" cy="438915"/>
            </a:xfrm>
            <a:prstGeom prst="ellipse">
              <a:avLst/>
            </a:prstGeom>
            <a:solidFill>
              <a:srgbClr val="238B8B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2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26" name="7"/>
            <p:cNvSpPr txBox="1"/>
            <p:nvPr/>
          </p:nvSpPr>
          <p:spPr>
            <a:xfrm>
              <a:off x="109997" y="84836"/>
              <a:ext cx="218920" cy="2692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7</a:t>
              </a:r>
            </a:p>
          </p:txBody>
        </p:sp>
      </p:grpSp>
      <p:sp>
        <p:nvSpPr>
          <p:cNvPr id="228" name="TextBox 16"/>
          <p:cNvSpPr txBox="1"/>
          <p:nvPr/>
        </p:nvSpPr>
        <p:spPr>
          <a:xfrm>
            <a:off x="1371599" y="4818889"/>
            <a:ext cx="4200584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6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Bill and item details are shown on the display.</a:t>
            </a:r>
          </a:p>
        </p:txBody>
      </p:sp>
      <p:grpSp>
        <p:nvGrpSpPr>
          <p:cNvPr id="231" name="Oval 17"/>
          <p:cNvGrpSpPr/>
          <p:nvPr/>
        </p:nvGrpSpPr>
        <p:grpSpPr>
          <a:xfrm>
            <a:off x="6355079" y="4837176"/>
            <a:ext cx="438915" cy="438915"/>
            <a:chOff x="0" y="0"/>
            <a:chExt cx="438914" cy="438914"/>
          </a:xfrm>
        </p:grpSpPr>
        <p:sp>
          <p:nvSpPr>
            <p:cNvPr id="229" name="Circle"/>
            <p:cNvSpPr/>
            <p:nvPr/>
          </p:nvSpPr>
          <p:spPr>
            <a:xfrm>
              <a:off x="-1" y="-1"/>
              <a:ext cx="438915" cy="438915"/>
            </a:xfrm>
            <a:prstGeom prst="ellipse">
              <a:avLst/>
            </a:prstGeom>
            <a:solidFill>
              <a:srgbClr val="238B8B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 sz="12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30" name="8"/>
            <p:cNvSpPr txBox="1"/>
            <p:nvPr/>
          </p:nvSpPr>
          <p:spPr>
            <a:xfrm>
              <a:off x="109997" y="84836"/>
              <a:ext cx="218920" cy="2692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8</a:t>
              </a:r>
            </a:p>
          </p:txBody>
        </p:sp>
      </p:grpSp>
      <p:sp>
        <p:nvSpPr>
          <p:cNvPr id="232" name="TextBox 18"/>
          <p:cNvSpPr txBox="1"/>
          <p:nvPr/>
        </p:nvSpPr>
        <p:spPr>
          <a:xfrm>
            <a:off x="6995159" y="4818889"/>
            <a:ext cx="3639799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6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Final bill can be generated at checkout.</a:t>
            </a:r>
          </a:p>
        </p:txBody>
      </p:sp>
      <p:sp>
        <p:nvSpPr>
          <p:cNvPr id="233" name="TextBox 19"/>
          <p:cNvSpPr txBox="1"/>
          <p:nvPr/>
        </p:nvSpPr>
        <p:spPr>
          <a:xfrm>
            <a:off x="8764090" y="6473953"/>
            <a:ext cx="2757348" cy="218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800">
                <a:solidFill>
                  <a:srgbClr val="6974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RFID + Weight Sensor Based Smart Billing Trolley    |    6/8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6" name="TextBox 2"/>
          <p:cNvSpPr txBox="1"/>
          <p:nvPr/>
        </p:nvSpPr>
        <p:spPr>
          <a:xfrm>
            <a:off x="640079" y="384048"/>
            <a:ext cx="3712123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8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Results &amp; Advantages</a:t>
            </a:r>
          </a:p>
        </p:txBody>
      </p:sp>
      <p:sp>
        <p:nvSpPr>
          <p:cNvPr id="237" name="Rounded Rectangle 3"/>
          <p:cNvSpPr/>
          <p:nvPr/>
        </p:nvSpPr>
        <p:spPr>
          <a:xfrm>
            <a:off x="685800" y="1325880"/>
            <a:ext cx="5349241" cy="4526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8" name="Rectangle 4"/>
          <p:cNvSpPr/>
          <p:nvPr/>
        </p:nvSpPr>
        <p:spPr>
          <a:xfrm>
            <a:off x="685798" y="1325880"/>
            <a:ext cx="82299" cy="4526280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39" name="TextBox 5"/>
          <p:cNvSpPr txBox="1"/>
          <p:nvPr/>
        </p:nvSpPr>
        <p:spPr>
          <a:xfrm>
            <a:off x="960118" y="1490473"/>
            <a:ext cx="3970173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200">
                <a:solidFill>
                  <a:srgbClr val="182A4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Expected / Prototype Results</a:t>
            </a:r>
          </a:p>
        </p:txBody>
      </p:sp>
      <p:sp>
        <p:nvSpPr>
          <p:cNvPr id="240" name="TextBox 6"/>
          <p:cNvSpPr txBox="1"/>
          <p:nvPr/>
        </p:nvSpPr>
        <p:spPr>
          <a:xfrm>
            <a:off x="960118" y="1947671"/>
            <a:ext cx="4846323" cy="283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0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RFID-based product identification is implemented.</a:t>
            </a:r>
            <a:br/>
            <a:r>
              <a:t>• Weight sensing is integrated for verification.</a:t>
            </a:r>
            <a:br/>
            <a:r>
              <a:t>• Product information can be processed automatically.</a:t>
            </a:r>
            <a:br/>
            <a:r>
              <a:t>• Running bill can be updated in real time.</a:t>
            </a:r>
            <a:br/>
            <a:r>
              <a:t>• The system supports faster and more transparent checkout.</a:t>
            </a:r>
          </a:p>
        </p:txBody>
      </p:sp>
      <p:sp>
        <p:nvSpPr>
          <p:cNvPr id="241" name="Rounded Rectangle 7"/>
          <p:cNvSpPr/>
          <p:nvPr/>
        </p:nvSpPr>
        <p:spPr>
          <a:xfrm>
            <a:off x="6217920" y="1325880"/>
            <a:ext cx="5303521" cy="4526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2" name="Rectangle 8"/>
          <p:cNvSpPr/>
          <p:nvPr/>
        </p:nvSpPr>
        <p:spPr>
          <a:xfrm>
            <a:off x="6217920" y="1325880"/>
            <a:ext cx="82298" cy="4526280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3" name="TextBox 9"/>
          <p:cNvSpPr txBox="1"/>
          <p:nvPr/>
        </p:nvSpPr>
        <p:spPr>
          <a:xfrm>
            <a:off x="6492238" y="1490473"/>
            <a:ext cx="1687906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200">
                <a:solidFill>
                  <a:srgbClr val="182A4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Advantages</a:t>
            </a:r>
          </a:p>
        </p:txBody>
      </p:sp>
      <p:sp>
        <p:nvSpPr>
          <p:cNvPr id="244" name="TextBox 10"/>
          <p:cNvSpPr txBox="1"/>
          <p:nvPr/>
        </p:nvSpPr>
        <p:spPr>
          <a:xfrm>
            <a:off x="6492239" y="1947671"/>
            <a:ext cx="4800602" cy="222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0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Reduces billing time</a:t>
            </a:r>
            <a:br/>
            <a:r>
              <a:t>• Minimizes manual scanning</a:t>
            </a:r>
            <a:br/>
            <a:r>
              <a:t>• Helps reduce billing errors</a:t>
            </a:r>
            <a:br/>
            <a:r>
              <a:t>• Reduces checkout queue congestion</a:t>
            </a:r>
            <a:br/>
            <a:r>
              <a:t>• Provides real-time bill visibility</a:t>
            </a:r>
            <a:br/>
            <a:r>
              <a:t>• Adds an extra product verification layer</a:t>
            </a:r>
            <a:br/>
            <a:r>
              <a:t>• Improves overall shopping convenience</a:t>
            </a:r>
          </a:p>
        </p:txBody>
      </p:sp>
      <p:sp>
        <p:nvSpPr>
          <p:cNvPr id="245" name="TextBox 11"/>
          <p:cNvSpPr txBox="1"/>
          <p:nvPr/>
        </p:nvSpPr>
        <p:spPr>
          <a:xfrm>
            <a:off x="8764090" y="6473953"/>
            <a:ext cx="2757348" cy="218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800">
                <a:solidFill>
                  <a:srgbClr val="6974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RFID + Weight Sensor Based Smart Billing Trolley    |    7/8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48" name="TextBox 2"/>
          <p:cNvSpPr txBox="1"/>
          <p:nvPr/>
        </p:nvSpPr>
        <p:spPr>
          <a:xfrm>
            <a:off x="640078" y="384048"/>
            <a:ext cx="4600181" cy="49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8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Future Scope &amp; Conclusion</a:t>
            </a:r>
          </a:p>
        </p:txBody>
      </p:sp>
      <p:sp>
        <p:nvSpPr>
          <p:cNvPr id="249" name="Rounded Rectangle 3"/>
          <p:cNvSpPr/>
          <p:nvPr/>
        </p:nvSpPr>
        <p:spPr>
          <a:xfrm>
            <a:off x="685800" y="1325880"/>
            <a:ext cx="5349241" cy="4526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0" name="Rectangle 4"/>
          <p:cNvSpPr/>
          <p:nvPr/>
        </p:nvSpPr>
        <p:spPr>
          <a:xfrm>
            <a:off x="685798" y="1325880"/>
            <a:ext cx="82299" cy="4526280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1" name="TextBox 5"/>
          <p:cNvSpPr txBox="1"/>
          <p:nvPr/>
        </p:nvSpPr>
        <p:spPr>
          <a:xfrm>
            <a:off x="960118" y="1490473"/>
            <a:ext cx="1889407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200">
                <a:solidFill>
                  <a:srgbClr val="182A4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Future Scope</a:t>
            </a:r>
          </a:p>
        </p:txBody>
      </p:sp>
      <p:sp>
        <p:nvSpPr>
          <p:cNvPr id="252" name="TextBox 6"/>
          <p:cNvSpPr txBox="1"/>
          <p:nvPr/>
        </p:nvSpPr>
        <p:spPr>
          <a:xfrm>
            <a:off x="960118" y="1947671"/>
            <a:ext cx="4846323" cy="222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0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• Mobile application integration</a:t>
            </a:r>
            <a:br/>
            <a:r>
              <a:t>• UPI / digital payment integration</a:t>
            </a:r>
            <a:br/>
            <a:r>
              <a:t>• Cloud-based shopping database</a:t>
            </a:r>
            <a:br/>
            <a:r>
              <a:t>• Automatic checkout and payment</a:t>
            </a:r>
            <a:br/>
            <a:r>
              <a:t>• Inventory management integration</a:t>
            </a:r>
            <a:br/>
            <a:r>
              <a:t>• AI-based shopping assistance</a:t>
            </a:r>
            <a:br/>
            <a:r>
              <a:t>• Indoor product navigation</a:t>
            </a:r>
          </a:p>
        </p:txBody>
      </p:sp>
      <p:sp>
        <p:nvSpPr>
          <p:cNvPr id="253" name="Rounded Rectangle 7"/>
          <p:cNvSpPr/>
          <p:nvPr/>
        </p:nvSpPr>
        <p:spPr>
          <a:xfrm>
            <a:off x="6217920" y="1325880"/>
            <a:ext cx="5303521" cy="4526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AE2E5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4" name="Rectangle 8"/>
          <p:cNvSpPr/>
          <p:nvPr/>
        </p:nvSpPr>
        <p:spPr>
          <a:xfrm>
            <a:off x="6217920" y="1325880"/>
            <a:ext cx="82298" cy="4526280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55" name="TextBox 9"/>
          <p:cNvSpPr txBox="1"/>
          <p:nvPr/>
        </p:nvSpPr>
        <p:spPr>
          <a:xfrm>
            <a:off x="6492238" y="1490473"/>
            <a:ext cx="1625287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200">
                <a:solidFill>
                  <a:srgbClr val="182A4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256" name="TextBox 10"/>
          <p:cNvSpPr txBox="1"/>
          <p:nvPr/>
        </p:nvSpPr>
        <p:spPr>
          <a:xfrm>
            <a:off x="6492239" y="1947671"/>
            <a:ext cx="4800602" cy="283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000">
                <a:solidFill>
                  <a:srgbClr val="262F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RFID and Weight Sensor Based Smart Billing Trolley combines automatic product identification with weight verification and real-time billing. The proposed system can reduce checkout time, minimize manual intervention and improve billing accuracy, providing a faster and more convenient supermarket shopping experience.</a:t>
            </a:r>
          </a:p>
        </p:txBody>
      </p:sp>
      <p:sp>
        <p:nvSpPr>
          <p:cNvPr id="257" name="TextBox 11"/>
          <p:cNvSpPr txBox="1"/>
          <p:nvPr/>
        </p:nvSpPr>
        <p:spPr>
          <a:xfrm>
            <a:off x="8764090" y="6473953"/>
            <a:ext cx="2757348" cy="218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r">
              <a:defRPr sz="800">
                <a:solidFill>
                  <a:srgbClr val="6974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RFID + Weight Sensor Based Smart Billing Trolley    |    8/8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0" name="Oval 2"/>
          <p:cNvSpPr/>
          <p:nvPr/>
        </p:nvSpPr>
        <p:spPr>
          <a:xfrm>
            <a:off x="9875518" y="914399"/>
            <a:ext cx="1005843" cy="1005843"/>
          </a:xfrm>
          <a:prstGeom prst="ellipse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1" name="Oval 3"/>
          <p:cNvSpPr/>
          <p:nvPr/>
        </p:nvSpPr>
        <p:spPr>
          <a:xfrm>
            <a:off x="10652759" y="1737360"/>
            <a:ext cx="502923" cy="502923"/>
          </a:xfrm>
          <a:prstGeom prst="ellipse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2" name="Oval 4"/>
          <p:cNvSpPr/>
          <p:nvPr/>
        </p:nvSpPr>
        <p:spPr>
          <a:xfrm>
            <a:off x="9189718" y="1828799"/>
            <a:ext cx="365763" cy="365763"/>
          </a:xfrm>
          <a:prstGeom prst="ellipse">
            <a:avLst/>
          </a:prstGeom>
          <a:solidFill>
            <a:srgbClr val="238B8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63" name="TextBox 5"/>
          <p:cNvSpPr txBox="1"/>
          <p:nvPr/>
        </p:nvSpPr>
        <p:spPr>
          <a:xfrm>
            <a:off x="3209496" y="2773680"/>
            <a:ext cx="5542815" cy="1310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b="1" sz="8000">
                <a:solidFill>
                  <a:srgbClr val="182A43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Thank You!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